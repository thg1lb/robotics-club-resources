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0405cb281a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0405cb281a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58d35d44750cdac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58d35d44750cdac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0405cb281a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0405cb281a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0405cb281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0405cb281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0405cb281a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0405cb281a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9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9.png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950" y="558431"/>
            <a:ext cx="3481200" cy="19798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5" name="Google Shape;55;p13"/>
          <p:cNvSpPr txBox="1"/>
          <p:nvPr/>
        </p:nvSpPr>
        <p:spPr>
          <a:xfrm>
            <a:off x="85950" y="96725"/>
            <a:ext cx="618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HARDWARE RECAP</a:t>
            </a:r>
            <a:endParaRPr b="1" sz="1800">
              <a:solidFill>
                <a:schemeClr val="dk2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917" y="3448675"/>
            <a:ext cx="924400" cy="153509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269250" y="4766700"/>
            <a:ext cx="346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85950" y="4735800"/>
            <a:ext cx="15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dk1"/>
                </a:solidFill>
              </a:rPr>
              <a:t>GND (-)        </a:t>
            </a:r>
            <a:r>
              <a:rPr b="1" lang="en-GB" sz="800">
                <a:solidFill>
                  <a:srgbClr val="000000"/>
                </a:solidFill>
              </a:rPr>
              <a:t>PWR (+)</a:t>
            </a:r>
            <a:endParaRPr b="1" sz="800">
              <a:solidFill>
                <a:srgbClr val="000000"/>
              </a:solidFill>
            </a:endParaRPr>
          </a:p>
        </p:txBody>
      </p:sp>
      <p:pic>
        <p:nvPicPr>
          <p:cNvPr id="59" name="Google Shape;5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45430" y="3231599"/>
            <a:ext cx="1853150" cy="1684357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/>
        </p:nvSpPr>
        <p:spPr>
          <a:xfrm>
            <a:off x="1300478" y="4705275"/>
            <a:ext cx="51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</a:rPr>
              <a:t>RED</a:t>
            </a:r>
            <a:endParaRPr b="1" sz="1600">
              <a:solidFill>
                <a:srgbClr val="FF0000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1705400" y="4736875"/>
            <a:ext cx="545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</a:rPr>
              <a:t>GND</a:t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2053850" y="4705275"/>
            <a:ext cx="777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FF00"/>
                </a:solidFill>
              </a:rPr>
              <a:t>GREEN</a:t>
            </a:r>
            <a:endParaRPr b="1" sz="1100">
              <a:solidFill>
                <a:srgbClr val="00FF00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2584050" y="4712925"/>
            <a:ext cx="56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0000FF"/>
                </a:solidFill>
              </a:rPr>
              <a:t>BLUE</a:t>
            </a:r>
            <a:endParaRPr b="1" sz="1000">
              <a:solidFill>
                <a:srgbClr val="0000FF"/>
              </a:solidFill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1009948" y="2526982"/>
            <a:ext cx="49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00000"/>
                </a:solidFill>
              </a:rPr>
              <a:t>PWR (+)</a:t>
            </a:r>
            <a:endParaRPr b="1" sz="900">
              <a:solidFill>
                <a:srgbClr val="000000"/>
              </a:solidFill>
            </a:endParaRPr>
          </a:p>
        </p:txBody>
      </p:sp>
      <p:cxnSp>
        <p:nvCxnSpPr>
          <p:cNvPr id="65" name="Google Shape;65;p13"/>
          <p:cNvCxnSpPr/>
          <p:nvPr/>
        </p:nvCxnSpPr>
        <p:spPr>
          <a:xfrm flipH="1" rot="10800000">
            <a:off x="1258650" y="2099975"/>
            <a:ext cx="505500" cy="505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" name="Google Shape;66;p13"/>
          <p:cNvCxnSpPr/>
          <p:nvPr/>
        </p:nvCxnSpPr>
        <p:spPr>
          <a:xfrm flipH="1" rot="10800000">
            <a:off x="1260925" y="2106925"/>
            <a:ext cx="374100" cy="487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" name="Google Shape;67;p13"/>
          <p:cNvCxnSpPr/>
          <p:nvPr/>
        </p:nvCxnSpPr>
        <p:spPr>
          <a:xfrm flipH="1" rot="10800000">
            <a:off x="1249600" y="2095675"/>
            <a:ext cx="569400" cy="516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" name="Google Shape;68;p13"/>
          <p:cNvSpPr txBox="1"/>
          <p:nvPr/>
        </p:nvSpPr>
        <p:spPr>
          <a:xfrm>
            <a:off x="1790540" y="2526982"/>
            <a:ext cx="49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00000"/>
                </a:solidFill>
              </a:rPr>
              <a:t>GND (-)</a:t>
            </a:r>
            <a:endParaRPr b="1" sz="900">
              <a:solidFill>
                <a:srgbClr val="000000"/>
              </a:solidFill>
            </a:endParaRPr>
          </a:p>
        </p:txBody>
      </p:sp>
      <p:cxnSp>
        <p:nvCxnSpPr>
          <p:cNvPr id="69" name="Google Shape;69;p13"/>
          <p:cNvCxnSpPr/>
          <p:nvPr/>
        </p:nvCxnSpPr>
        <p:spPr>
          <a:xfrm rot="10800000">
            <a:off x="1907400" y="2097450"/>
            <a:ext cx="73800" cy="512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" name="Google Shape;70;p13"/>
          <p:cNvCxnSpPr/>
          <p:nvPr/>
        </p:nvCxnSpPr>
        <p:spPr>
          <a:xfrm rot="10800000">
            <a:off x="1852650" y="2101425"/>
            <a:ext cx="138600" cy="5166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13"/>
          <p:cNvSpPr txBox="1"/>
          <p:nvPr/>
        </p:nvSpPr>
        <p:spPr>
          <a:xfrm>
            <a:off x="3146550" y="2988675"/>
            <a:ext cx="1853100" cy="21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</a:rPr>
              <a:t>Extra help: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</a:rPr>
              <a:t>Connect 2 jumper wires from: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</a:rPr>
              <a:t>5V (5V of power on your arduino →</a:t>
            </a:r>
            <a:r>
              <a:rPr lang="en-GB" sz="700">
                <a:solidFill>
                  <a:srgbClr val="000000"/>
                </a:solidFill>
              </a:rPr>
              <a:t> </a:t>
            </a:r>
            <a:r>
              <a:rPr lang="en-GB" sz="1200">
                <a:solidFill>
                  <a:srgbClr val="FF0000"/>
                </a:solidFill>
              </a:rPr>
              <a:t>+</a:t>
            </a:r>
            <a:r>
              <a:rPr lang="en-GB" sz="1100">
                <a:solidFill>
                  <a:srgbClr val="FF0000"/>
                </a:solidFill>
              </a:rPr>
              <a:t>/red line</a:t>
            </a:r>
            <a:r>
              <a:rPr lang="en-GB" sz="1100">
                <a:solidFill>
                  <a:srgbClr val="000000"/>
                </a:solidFill>
              </a:rPr>
              <a:t> on breadboard 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</a:rPr>
              <a:t>GND (ground on your arduino) →</a:t>
            </a:r>
            <a:r>
              <a:rPr lang="en-GB" sz="1800">
                <a:solidFill>
                  <a:srgbClr val="000000"/>
                </a:solidFill>
              </a:rPr>
              <a:t> </a:t>
            </a:r>
            <a:r>
              <a:rPr lang="en-GB" sz="1800">
                <a:solidFill>
                  <a:srgbClr val="0000FF"/>
                </a:solidFill>
              </a:rPr>
              <a:t>-</a:t>
            </a:r>
            <a:r>
              <a:rPr lang="en-GB" sz="1100">
                <a:solidFill>
                  <a:srgbClr val="0000FF"/>
                </a:solidFill>
              </a:rPr>
              <a:t>/blue line</a:t>
            </a:r>
            <a:r>
              <a:rPr lang="en-GB" sz="1100">
                <a:solidFill>
                  <a:srgbClr val="000000"/>
                </a:solidFill>
              </a:rPr>
              <a:t> on breadboard</a:t>
            </a:r>
            <a:endParaRPr sz="1100">
              <a:solidFill>
                <a:srgbClr val="000000"/>
              </a:solidFill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3854300" y="96725"/>
            <a:ext cx="5172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Component Insertion: 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To use a breadboard, insert the leads of electronic components like resistors, LEDs, and ICs into the appropriate holes. Ensure the leads make contact with the metal strips underneath. </a:t>
            </a:r>
            <a:endParaRPr sz="12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Power Rails: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Rows of interconnected holes along the sides known are as power rails. Connect power (usually 5V or 3.3V) and ground wires to these rails to provide power to your circuit.</a:t>
            </a:r>
            <a:endParaRPr/>
          </a:p>
        </p:txBody>
      </p:sp>
      <p:pic>
        <p:nvPicPr>
          <p:cNvPr id="73" name="Google Shape;73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61472" y="1831025"/>
            <a:ext cx="2265128" cy="161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69024" y="1986925"/>
            <a:ext cx="1792449" cy="130585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3"/>
          <p:cNvSpPr txBox="1"/>
          <p:nvPr/>
        </p:nvSpPr>
        <p:spPr>
          <a:xfrm>
            <a:off x="8339900" y="1786075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LED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6177500" y="1986925"/>
            <a:ext cx="91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Button +LED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77" name="Google Shape;77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69025" y="3331475"/>
            <a:ext cx="1798517" cy="13058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3"/>
          <p:cNvSpPr txBox="1"/>
          <p:nvPr/>
        </p:nvSpPr>
        <p:spPr>
          <a:xfrm>
            <a:off x="6177500" y="3335875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RGB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9" name="Google Shape;79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947075" y="3457279"/>
            <a:ext cx="1792449" cy="127614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3"/>
          <p:cNvSpPr txBox="1"/>
          <p:nvPr/>
        </p:nvSpPr>
        <p:spPr>
          <a:xfrm>
            <a:off x="8229600" y="3335875"/>
            <a:ext cx="91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RP + RGB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/>
          <p:nvPr/>
        </p:nvSpPr>
        <p:spPr>
          <a:xfrm>
            <a:off x="84675" y="190500"/>
            <a:ext cx="60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RESISTORS: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370425" y="846675"/>
            <a:ext cx="5979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You must use resistors when connecting LEDs and other components to a circuit, otherwise the components will break.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For 5V connections, use a 100 ohm resistor between the PWR pin LED and the wire connection.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7" name="Google Shape;8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0450" y="2382925"/>
            <a:ext cx="2489176" cy="26716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/>
          <p:nvPr/>
        </p:nvSpPr>
        <p:spPr>
          <a:xfrm>
            <a:off x="84675" y="190500"/>
            <a:ext cx="60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Light/Motion Sensors</a:t>
            </a:r>
            <a:r>
              <a:rPr b="1" lang="en-GB" sz="1800">
                <a:solidFill>
                  <a:schemeClr val="dk2"/>
                </a:solidFill>
              </a:rPr>
              <a:t>: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93" name="Google Shape;93;p15"/>
          <p:cNvSpPr txBox="1"/>
          <p:nvPr/>
        </p:nvSpPr>
        <p:spPr>
          <a:xfrm>
            <a:off x="370425" y="846675"/>
            <a:ext cx="4072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Motion sensors can change the output voltage as well.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4" name="Google Shape;94;p15"/>
          <p:cNvPicPr preferRelativeResize="0"/>
          <p:nvPr/>
        </p:nvPicPr>
        <p:blipFill rotWithShape="1">
          <a:blip r:embed="rId3">
            <a:alphaModFix/>
          </a:blip>
          <a:srcRect b="27987" l="0" r="55066" t="10584"/>
          <a:stretch/>
        </p:blipFill>
        <p:spPr>
          <a:xfrm>
            <a:off x="4443225" y="312675"/>
            <a:ext cx="4607975" cy="451814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5"/>
          <p:cNvSpPr txBox="1"/>
          <p:nvPr/>
        </p:nvSpPr>
        <p:spPr>
          <a:xfrm>
            <a:off x="242775" y="1780050"/>
            <a:ext cx="324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VCC is the same as PWR (+)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/>
          <p:nvPr/>
        </p:nvSpPr>
        <p:spPr>
          <a:xfrm>
            <a:off x="85950" y="96725"/>
            <a:ext cx="618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CODING</a:t>
            </a:r>
            <a:r>
              <a:rPr b="1" lang="en-GB" sz="1800">
                <a:solidFill>
                  <a:schemeClr val="dk2"/>
                </a:solidFill>
              </a:rPr>
              <a:t> RECAP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85950" y="558425"/>
            <a:ext cx="4244700" cy="44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595959"/>
                </a:solidFill>
              </a:rPr>
              <a:t>//</a:t>
            </a:r>
            <a:r>
              <a:rPr lang="en-GB" sz="1800">
                <a:solidFill>
                  <a:srgbClr val="595959"/>
                </a:solidFill>
              </a:rPr>
              <a:t> - to create a comment that won’t affect the code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595959"/>
                </a:solidFill>
              </a:rPr>
              <a:t>int </a:t>
            </a:r>
            <a:r>
              <a:rPr i="1" lang="en-GB" sz="1800">
                <a:solidFill>
                  <a:srgbClr val="595959"/>
                </a:solidFill>
              </a:rPr>
              <a:t>variable</a:t>
            </a:r>
            <a:r>
              <a:rPr lang="en-GB" sz="1800">
                <a:solidFill>
                  <a:srgbClr val="595959"/>
                </a:solidFill>
              </a:rPr>
              <a:t> - stores integer numbers as a variable eg 123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595959"/>
                </a:solidFill>
              </a:rPr>
              <a:t>void setup ()</a:t>
            </a:r>
            <a:r>
              <a:rPr lang="en-GB" sz="1800">
                <a:solidFill>
                  <a:srgbClr val="595959"/>
                </a:solidFill>
              </a:rPr>
              <a:t> - a function that runs the setup and defines input and output inside it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595959"/>
                </a:solidFill>
              </a:rPr>
              <a:t>void loop()</a:t>
            </a:r>
            <a:r>
              <a:rPr lang="en-GB" sz="1800">
                <a:solidFill>
                  <a:srgbClr val="595959"/>
                </a:solidFill>
              </a:rPr>
              <a:t> - a function that runs continuously in a loop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595959"/>
                </a:solidFill>
              </a:rPr>
              <a:t>pinMode(pin , INPUT / OUTPUT)</a:t>
            </a:r>
            <a:r>
              <a:rPr lang="en-GB" sz="1800">
                <a:solidFill>
                  <a:srgbClr val="595959"/>
                </a:solidFill>
              </a:rPr>
              <a:t> - defines what is connected to that number pin as a input or output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595959"/>
                </a:solidFill>
              </a:rPr>
              <a:t>digitalWrite(</a:t>
            </a:r>
            <a:r>
              <a:rPr i="1" lang="en-GB" sz="1800">
                <a:solidFill>
                  <a:srgbClr val="595959"/>
                </a:solidFill>
              </a:rPr>
              <a:t>pin</a:t>
            </a:r>
            <a:r>
              <a:rPr b="1" lang="en-GB" sz="1800">
                <a:solidFill>
                  <a:srgbClr val="595959"/>
                </a:solidFill>
              </a:rPr>
              <a:t>, </a:t>
            </a:r>
            <a:r>
              <a:rPr i="1" lang="en-GB" sz="1800">
                <a:solidFill>
                  <a:srgbClr val="595959"/>
                </a:solidFill>
              </a:rPr>
              <a:t>data</a:t>
            </a:r>
            <a:r>
              <a:rPr b="1" lang="en-GB" sz="1800">
                <a:solidFill>
                  <a:srgbClr val="595959"/>
                </a:solidFill>
              </a:rPr>
              <a:t>) </a:t>
            </a:r>
            <a:r>
              <a:rPr lang="en-GB" sz="1800">
                <a:solidFill>
                  <a:srgbClr val="595959"/>
                </a:solidFill>
              </a:rPr>
              <a:t>- writes the data/value to the pin eg, HIGH power to pin 4, so LED turns on. 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595959"/>
                </a:solidFill>
              </a:rPr>
              <a:t>delay(</a:t>
            </a:r>
            <a:r>
              <a:rPr i="1" lang="en-GB" sz="1800">
                <a:solidFill>
                  <a:srgbClr val="595959"/>
                </a:solidFill>
              </a:rPr>
              <a:t>time in ms</a:t>
            </a:r>
            <a:r>
              <a:rPr b="1" lang="en-GB" sz="1800">
                <a:solidFill>
                  <a:srgbClr val="595959"/>
                </a:solidFill>
              </a:rPr>
              <a:t>)</a:t>
            </a:r>
            <a:r>
              <a:rPr b="1" i="1" lang="en-GB" sz="1800">
                <a:solidFill>
                  <a:srgbClr val="595959"/>
                </a:solidFill>
              </a:rPr>
              <a:t> </a:t>
            </a:r>
            <a:r>
              <a:rPr lang="en-GB" sz="1800">
                <a:solidFill>
                  <a:srgbClr val="595959"/>
                </a:solidFill>
              </a:rPr>
              <a:t>- delays the code by a set time in milliseconds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595959"/>
                </a:solidFill>
              </a:rPr>
              <a:t>Remember</a:t>
            </a:r>
            <a:r>
              <a:rPr lang="en-GB" sz="1800">
                <a:solidFill>
                  <a:srgbClr val="595959"/>
                </a:solidFill>
              </a:rPr>
              <a:t> to use </a:t>
            </a:r>
            <a:r>
              <a:rPr b="1" lang="en-GB" sz="1800">
                <a:solidFill>
                  <a:srgbClr val="595959"/>
                </a:solidFill>
              </a:rPr>
              <a:t>; </a:t>
            </a:r>
            <a:r>
              <a:rPr lang="en-GB" sz="1800">
                <a:solidFill>
                  <a:srgbClr val="595959"/>
                </a:solidFill>
              </a:rPr>
              <a:t>after a function. 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pic>
        <p:nvPicPr>
          <p:cNvPr id="102" name="Google Shape;10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-155850"/>
            <a:ext cx="4504200" cy="196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4375" y="2312800"/>
            <a:ext cx="4651650" cy="211883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6"/>
          <p:cNvSpPr txBox="1"/>
          <p:nvPr/>
        </p:nvSpPr>
        <p:spPr>
          <a:xfrm>
            <a:off x="6966550" y="963575"/>
            <a:ext cx="22041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LED BLINK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6330325" y="2137550"/>
            <a:ext cx="2895600" cy="73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Rotary </a:t>
            </a:r>
            <a:r>
              <a:rPr lang="en-GB" sz="1800">
                <a:solidFill>
                  <a:schemeClr val="dk2"/>
                </a:solidFill>
              </a:rPr>
              <a:t>Potentiometer</a:t>
            </a:r>
            <a:r>
              <a:rPr lang="en-GB" sz="1800">
                <a:solidFill>
                  <a:schemeClr val="dk2"/>
                </a:solidFill>
              </a:rPr>
              <a:t> + Servo Motor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PASSWORDS</a:t>
            </a:r>
            <a:r>
              <a:rPr lang="en-GB"/>
              <a:t>: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Your Account Password will be the same as your Username: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Account number (Single digit)					Account number(double digit)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Try:											Try: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Media01										Media11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Media01										media11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Media1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media1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/>
        </p:nvSpPr>
        <p:spPr>
          <a:xfrm>
            <a:off x="85950" y="96725"/>
            <a:ext cx="618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Term </a:t>
            </a:r>
            <a:r>
              <a:rPr b="1" lang="en-GB" sz="1800">
                <a:solidFill>
                  <a:schemeClr val="dk2"/>
                </a:solidFill>
              </a:rPr>
              <a:t>1&amp;2 2024/5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190500" y="634975"/>
            <a:ext cx="3778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Today: Begin by making a </a:t>
            </a:r>
            <a:r>
              <a:rPr lang="en-GB" sz="1800">
                <a:solidFill>
                  <a:schemeClr val="dk2"/>
                </a:solidFill>
              </a:rPr>
              <a:t>blinking</a:t>
            </a:r>
            <a:r>
              <a:rPr lang="en-GB" sz="1800">
                <a:solidFill>
                  <a:schemeClr val="dk2"/>
                </a:solidFill>
              </a:rPr>
              <a:t> RGB LED Circuit with different colours: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8" name="Google Shape;118;p18"/>
          <p:cNvPicPr preferRelativeResize="0"/>
          <p:nvPr/>
        </p:nvPicPr>
        <p:blipFill rotWithShape="1">
          <a:blip r:embed="rId3">
            <a:alphaModFix/>
          </a:blip>
          <a:srcRect b="0" l="0" r="0" t="9173"/>
          <a:stretch/>
        </p:blipFill>
        <p:spPr>
          <a:xfrm>
            <a:off x="4169825" y="96725"/>
            <a:ext cx="4806474" cy="175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9825" y="1855375"/>
            <a:ext cx="3407849" cy="232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25600" y="3844275"/>
            <a:ext cx="2062476" cy="113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