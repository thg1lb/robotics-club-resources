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Raleway SemiBold"/>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RalewaySemiBold-regular.fntdata"/><Relationship Id="rId23"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SemiBold-italic.fntdata"/><Relationship Id="rId25" Type="http://schemas.openxmlformats.org/officeDocument/2006/relationships/font" Target="fonts/RalewaySemiBold-bold.fntdata"/><Relationship Id="rId28" Type="http://schemas.openxmlformats.org/officeDocument/2006/relationships/font" Target="fonts/Lato-regular.fntdata"/><Relationship Id="rId27" Type="http://schemas.openxmlformats.org/officeDocument/2006/relationships/font" Target="fonts/Raleway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Transistor#:~:text=A%20transistor%20is%20a%20semiconductor,connection%20to%20an%20electronic%20circui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rojecthub.arduino.cc/SBR/switching-using-transistor-18cb61"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253d41bcc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253d41bcc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53d41bcc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53d41bcc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53d41bcc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253d41bcc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253d41bcc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253d41bcc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https://en.wikipedia.org/wiki/Transistor#:~:text=A%20transistor%20is%20a%20semiconductor,connection%20to%20an%20electronic%20circuit.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53d41bcc0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253d41bcc0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53d41bcc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53d41bcc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53d41bcc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53d41bcc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53d41bcc0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53d41bcc0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56738df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256738df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253d41bcc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253d41bcc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53d41bcc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253d41bcc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253d41bcc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253d41bcc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53d41bcc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253d41bcc0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https://projecthub.arduino.cc/SBR/switching-using-transistor-18cb61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273225"/>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Transistors</a:t>
            </a:r>
            <a:endParaRPr/>
          </a:p>
        </p:txBody>
      </p:sp>
      <p:pic>
        <p:nvPicPr>
          <p:cNvPr id="87" name="Google Shape;87;p13"/>
          <p:cNvPicPr preferRelativeResize="0"/>
          <p:nvPr/>
        </p:nvPicPr>
        <p:blipFill>
          <a:blip r:embed="rId3">
            <a:alphaModFix/>
          </a:blip>
          <a:stretch>
            <a:fillRect/>
          </a:stretch>
        </p:blipFill>
        <p:spPr>
          <a:xfrm>
            <a:off x="2688725" y="2583375"/>
            <a:ext cx="3766550" cy="2255600"/>
          </a:xfrm>
          <a:prstGeom prst="rect">
            <a:avLst/>
          </a:prstGeom>
          <a:noFill/>
          <a:ln>
            <a:noFill/>
          </a:ln>
        </p:spPr>
      </p:pic>
      <p:sp>
        <p:nvSpPr>
          <p:cNvPr id="88" name="Google Shape;88;p13"/>
          <p:cNvSpPr txBox="1"/>
          <p:nvPr>
            <p:ph type="ctrTitle"/>
          </p:nvPr>
        </p:nvSpPr>
        <p:spPr>
          <a:xfrm>
            <a:off x="805650" y="1899450"/>
            <a:ext cx="4813800" cy="51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10"/>
              <a:t>and other announcements</a:t>
            </a:r>
            <a:endParaRPr sz="181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 bit about me</a:t>
            </a:r>
            <a:endParaRPr/>
          </a:p>
        </p:txBody>
      </p:sp>
      <p:sp>
        <p:nvSpPr>
          <p:cNvPr id="94" name="Google Shape;94;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latin typeface="Raleway SemiBold"/>
                <a:ea typeface="Raleway SemiBold"/>
                <a:cs typeface="Raleway SemiBold"/>
                <a:sym typeface="Raleway SemiBold"/>
              </a:rPr>
              <a:t>Name: Ana</a:t>
            </a:r>
            <a:endParaRPr sz="1800">
              <a:latin typeface="Raleway SemiBold"/>
              <a:ea typeface="Raleway SemiBold"/>
              <a:cs typeface="Raleway SemiBold"/>
              <a:sym typeface="Raleway SemiBold"/>
            </a:endParaRPr>
          </a:p>
          <a:p>
            <a:pPr indent="0" lvl="0" marL="0" rtl="0" algn="l">
              <a:lnSpc>
                <a:spcPct val="115000"/>
              </a:lnSpc>
              <a:spcBef>
                <a:spcPts val="1200"/>
              </a:spcBef>
              <a:spcAft>
                <a:spcPts val="0"/>
              </a:spcAft>
              <a:buNone/>
            </a:pPr>
            <a:r>
              <a:rPr lang="en-GB" sz="1800">
                <a:latin typeface="Raleway SemiBold"/>
                <a:ea typeface="Raleway SemiBold"/>
                <a:cs typeface="Raleway SemiBold"/>
                <a:sym typeface="Raleway SemiBold"/>
              </a:rPr>
              <a:t>Year: 12</a:t>
            </a:r>
            <a:endParaRPr sz="1800">
              <a:latin typeface="Raleway SemiBold"/>
              <a:ea typeface="Raleway SemiBold"/>
              <a:cs typeface="Raleway SemiBold"/>
              <a:sym typeface="Raleway SemiBold"/>
            </a:endParaRPr>
          </a:p>
          <a:p>
            <a:pPr indent="0" lvl="0" marL="0" rtl="0" algn="l">
              <a:lnSpc>
                <a:spcPct val="115000"/>
              </a:lnSpc>
              <a:spcBef>
                <a:spcPts val="1200"/>
              </a:spcBef>
              <a:spcAft>
                <a:spcPts val="0"/>
              </a:spcAft>
              <a:buNone/>
            </a:pPr>
            <a:r>
              <a:rPr lang="en-GB" sz="1800">
                <a:latin typeface="Raleway SemiBold"/>
                <a:ea typeface="Raleway SemiBold"/>
                <a:cs typeface="Raleway SemiBold"/>
                <a:sym typeface="Raleway SemiBold"/>
              </a:rPr>
              <a:t>Subjects: Maths AA HL, Computer Science HL, Physics HL</a:t>
            </a:r>
            <a:endParaRPr sz="1800">
              <a:latin typeface="Raleway SemiBold"/>
              <a:ea typeface="Raleway SemiBold"/>
              <a:cs typeface="Raleway SemiBold"/>
              <a:sym typeface="Raleway SemiBold"/>
            </a:endParaRPr>
          </a:p>
          <a:p>
            <a:pPr indent="0" lvl="0" marL="0" rtl="0" algn="l">
              <a:lnSpc>
                <a:spcPct val="115000"/>
              </a:lnSpc>
              <a:spcBef>
                <a:spcPts val="1200"/>
              </a:spcBef>
              <a:spcAft>
                <a:spcPts val="0"/>
              </a:spcAft>
              <a:buNone/>
            </a:pPr>
            <a:r>
              <a:rPr lang="en-GB" sz="1800">
                <a:latin typeface="Raleway SemiBold"/>
                <a:ea typeface="Raleway SemiBold"/>
                <a:cs typeface="Raleway SemiBold"/>
                <a:sym typeface="Raleway SemiBold"/>
              </a:rPr>
              <a:t>Experience: Java, Python, C#, Arduino/Raspberry Pi, Robotics Club in Y10</a:t>
            </a:r>
            <a:endParaRPr sz="1800">
              <a:latin typeface="Raleway SemiBold"/>
              <a:ea typeface="Raleway SemiBold"/>
              <a:cs typeface="Raleway SemiBold"/>
              <a:sym typeface="Raleway SemiBold"/>
            </a:endParaRPr>
          </a:p>
          <a:p>
            <a:pPr indent="0" lvl="0" marL="0" rtl="0" algn="l">
              <a:lnSpc>
                <a:spcPct val="115000"/>
              </a:lnSpc>
              <a:spcBef>
                <a:spcPts val="1200"/>
              </a:spcBef>
              <a:spcAft>
                <a:spcPts val="1200"/>
              </a:spcAft>
              <a:buNone/>
            </a:pPr>
            <a:r>
              <a:t/>
            </a:r>
            <a:endParaRPr sz="1800">
              <a:latin typeface="Raleway SemiBold"/>
              <a:ea typeface="Raleway SemiBold"/>
              <a:cs typeface="Raleway SemiBold"/>
              <a:sym typeface="Raleway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Future plans</a:t>
            </a:r>
            <a:endParaRPr/>
          </a:p>
        </p:txBody>
      </p:sp>
      <p:sp>
        <p:nvSpPr>
          <p:cNvPr id="100" name="Google Shape;100;p15"/>
          <p:cNvSpPr txBox="1"/>
          <p:nvPr>
            <p:ph idx="1" type="body"/>
          </p:nvPr>
        </p:nvSpPr>
        <p:spPr>
          <a:xfrm>
            <a:off x="729450" y="2078875"/>
            <a:ext cx="3842400" cy="2940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aleway SemiBold"/>
              <a:buChar char="●"/>
            </a:pPr>
            <a:r>
              <a:rPr lang="en-GB" sz="1800">
                <a:latin typeface="Raleway SemiBold"/>
                <a:ea typeface="Raleway SemiBold"/>
                <a:cs typeface="Raleway SemiBold"/>
                <a:sym typeface="Raleway SemiBold"/>
              </a:rPr>
              <a:t>Will likely get microbit kits</a:t>
            </a:r>
            <a:endParaRPr sz="1800">
              <a:latin typeface="Raleway SemiBold"/>
              <a:ea typeface="Raleway SemiBold"/>
              <a:cs typeface="Raleway SemiBold"/>
              <a:sym typeface="Raleway SemiBold"/>
            </a:endParaRPr>
          </a:p>
          <a:p>
            <a:pPr indent="-342900" lvl="0" marL="457200" rtl="0" algn="l">
              <a:spcBef>
                <a:spcPts val="0"/>
              </a:spcBef>
              <a:spcAft>
                <a:spcPts val="0"/>
              </a:spcAft>
              <a:buSzPts val="1800"/>
              <a:buFont typeface="Raleway SemiBold"/>
              <a:buChar char="●"/>
            </a:pPr>
            <a:r>
              <a:rPr lang="en-GB" sz="1800">
                <a:latin typeface="Raleway SemiBold"/>
                <a:ea typeface="Raleway SemiBold"/>
                <a:cs typeface="Raleway SemiBold"/>
                <a:sym typeface="Raleway SemiBold"/>
              </a:rPr>
              <a:t>Will look into ordering robot parts (probably going to start with ultrasonic sensor robots)</a:t>
            </a:r>
            <a:endParaRPr sz="1800">
              <a:latin typeface="Raleway SemiBold"/>
              <a:ea typeface="Raleway SemiBold"/>
              <a:cs typeface="Raleway SemiBold"/>
              <a:sym typeface="Raleway SemiBold"/>
            </a:endParaRPr>
          </a:p>
          <a:p>
            <a:pPr indent="-342900" lvl="0" marL="457200" rtl="0" algn="l">
              <a:spcBef>
                <a:spcPts val="0"/>
              </a:spcBef>
              <a:spcAft>
                <a:spcPts val="0"/>
              </a:spcAft>
              <a:buSzPts val="1800"/>
              <a:buFont typeface="Raleway SemiBold"/>
              <a:buChar char="●"/>
            </a:pPr>
            <a:r>
              <a:rPr lang="en-GB" sz="1800">
                <a:latin typeface="Raleway SemiBold"/>
                <a:ea typeface="Raleway SemiBold"/>
                <a:cs typeface="Raleway SemiBold"/>
                <a:sym typeface="Raleway SemiBold"/>
              </a:rPr>
              <a:t>If anyone is interested in competitions/contests we can look into those soon!</a:t>
            </a:r>
            <a:endParaRPr sz="1800">
              <a:latin typeface="Raleway SemiBold"/>
              <a:ea typeface="Raleway SemiBold"/>
              <a:cs typeface="Raleway SemiBold"/>
              <a:sym typeface="Raleway SemiBold"/>
            </a:endParaRPr>
          </a:p>
        </p:txBody>
      </p:sp>
      <p:pic>
        <p:nvPicPr>
          <p:cNvPr id="101" name="Google Shape;101;p15"/>
          <p:cNvPicPr preferRelativeResize="0"/>
          <p:nvPr/>
        </p:nvPicPr>
        <p:blipFill>
          <a:blip r:embed="rId3">
            <a:alphaModFix/>
          </a:blip>
          <a:stretch>
            <a:fillRect/>
          </a:stretch>
        </p:blipFill>
        <p:spPr>
          <a:xfrm>
            <a:off x="5134550" y="893701"/>
            <a:ext cx="3632376" cy="2045475"/>
          </a:xfrm>
          <a:prstGeom prst="rect">
            <a:avLst/>
          </a:prstGeom>
          <a:noFill/>
          <a:ln>
            <a:noFill/>
          </a:ln>
        </p:spPr>
      </p:pic>
      <p:pic>
        <p:nvPicPr>
          <p:cNvPr id="102" name="Google Shape;102;p15"/>
          <p:cNvPicPr preferRelativeResize="0"/>
          <p:nvPr/>
        </p:nvPicPr>
        <p:blipFill>
          <a:blip r:embed="rId4">
            <a:alphaModFix/>
          </a:blip>
          <a:stretch>
            <a:fillRect/>
          </a:stretch>
        </p:blipFill>
        <p:spPr>
          <a:xfrm>
            <a:off x="5191313" y="3154506"/>
            <a:ext cx="3518850" cy="1864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Coding Club!</a:t>
            </a:r>
            <a:endParaRPr/>
          </a:p>
        </p:txBody>
      </p:sp>
      <p:sp>
        <p:nvSpPr>
          <p:cNvPr id="108" name="Google Shape;108;p16"/>
          <p:cNvSpPr txBox="1"/>
          <p:nvPr>
            <p:ph idx="1" type="body"/>
          </p:nvPr>
        </p:nvSpPr>
        <p:spPr>
          <a:xfrm>
            <a:off x="730000" y="1885800"/>
            <a:ext cx="3300900" cy="2826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Font typeface="Raleway SemiBold"/>
              <a:buChar char="●"/>
            </a:pPr>
            <a:r>
              <a:rPr lang="en-GB" sz="1600">
                <a:latin typeface="Raleway SemiBold"/>
                <a:ea typeface="Raleway SemiBold"/>
                <a:cs typeface="Raleway SemiBold"/>
                <a:sym typeface="Raleway SemiBold"/>
              </a:rPr>
              <a:t>Will likely run on a Thursday</a:t>
            </a:r>
            <a:endParaRPr sz="1600">
              <a:latin typeface="Raleway SemiBold"/>
              <a:ea typeface="Raleway SemiBold"/>
              <a:cs typeface="Raleway SemiBold"/>
              <a:sym typeface="Raleway SemiBold"/>
            </a:endParaRPr>
          </a:p>
          <a:p>
            <a:pPr indent="-330200" lvl="0" marL="457200" rtl="0" algn="l">
              <a:spcBef>
                <a:spcPts val="0"/>
              </a:spcBef>
              <a:spcAft>
                <a:spcPts val="0"/>
              </a:spcAft>
              <a:buSzPts val="1600"/>
              <a:buFont typeface="Raleway SemiBold"/>
              <a:buChar char="●"/>
            </a:pPr>
            <a:r>
              <a:rPr lang="en-GB" sz="1600">
                <a:latin typeface="Raleway SemiBold"/>
                <a:ea typeface="Raleway SemiBold"/>
                <a:cs typeface="Raleway SemiBold"/>
                <a:sym typeface="Raleway SemiBold"/>
              </a:rPr>
              <a:t>Will likely be run by me and a couple of other Y12s</a:t>
            </a:r>
            <a:endParaRPr sz="1600">
              <a:latin typeface="Raleway SemiBold"/>
              <a:ea typeface="Raleway SemiBold"/>
              <a:cs typeface="Raleway SemiBold"/>
              <a:sym typeface="Raleway SemiBold"/>
            </a:endParaRPr>
          </a:p>
          <a:p>
            <a:pPr indent="-330200" lvl="0" marL="457200" rtl="0" algn="l">
              <a:spcBef>
                <a:spcPts val="0"/>
              </a:spcBef>
              <a:spcAft>
                <a:spcPts val="0"/>
              </a:spcAft>
              <a:buSzPts val="1600"/>
              <a:buFont typeface="Raleway SemiBold"/>
              <a:buChar char="●"/>
            </a:pPr>
            <a:r>
              <a:rPr lang="en-GB" sz="1600">
                <a:latin typeface="Raleway SemiBold"/>
                <a:ea typeface="Raleway SemiBold"/>
                <a:cs typeface="Raleway SemiBold"/>
                <a:sym typeface="Raleway SemiBold"/>
              </a:rPr>
              <a:t>Python, Java, etc…</a:t>
            </a:r>
            <a:endParaRPr sz="1600">
              <a:latin typeface="Raleway SemiBold"/>
              <a:ea typeface="Raleway SemiBold"/>
              <a:cs typeface="Raleway SemiBold"/>
              <a:sym typeface="Raleway SemiBold"/>
            </a:endParaRPr>
          </a:p>
          <a:p>
            <a:pPr indent="-330200" lvl="0" marL="457200" rtl="0" algn="l">
              <a:spcBef>
                <a:spcPts val="0"/>
              </a:spcBef>
              <a:spcAft>
                <a:spcPts val="0"/>
              </a:spcAft>
              <a:buSzPts val="1600"/>
              <a:buFont typeface="Raleway SemiBold"/>
              <a:buChar char="●"/>
            </a:pPr>
            <a:r>
              <a:rPr lang="en-GB" sz="1600">
                <a:latin typeface="Raleway SemiBold"/>
                <a:ea typeface="Raleway SemiBold"/>
                <a:cs typeface="Raleway SemiBold"/>
                <a:sym typeface="Raleway SemiBold"/>
              </a:rPr>
              <a:t>Mix of lessons and practicals, with a project at the end</a:t>
            </a:r>
            <a:endParaRPr sz="1600">
              <a:latin typeface="Raleway SemiBold"/>
              <a:ea typeface="Raleway SemiBold"/>
              <a:cs typeface="Raleway SemiBold"/>
              <a:sym typeface="Raleway SemiBold"/>
            </a:endParaRPr>
          </a:p>
          <a:p>
            <a:pPr indent="-330200" lvl="0" marL="457200" rtl="0" algn="l">
              <a:spcBef>
                <a:spcPts val="0"/>
              </a:spcBef>
              <a:spcAft>
                <a:spcPts val="0"/>
              </a:spcAft>
              <a:buSzPts val="1600"/>
              <a:buFont typeface="Raleway SemiBold"/>
              <a:buChar char="●"/>
            </a:pPr>
            <a:r>
              <a:rPr lang="en-GB" sz="1600">
                <a:latin typeface="Raleway SemiBold"/>
                <a:ea typeface="Raleway SemiBold"/>
                <a:cs typeface="Raleway SemiBold"/>
                <a:sym typeface="Raleway SemiBold"/>
              </a:rPr>
              <a:t>Interested?</a:t>
            </a:r>
            <a:endParaRPr sz="1600">
              <a:latin typeface="Raleway SemiBold"/>
              <a:ea typeface="Raleway SemiBold"/>
              <a:cs typeface="Raleway SemiBold"/>
              <a:sym typeface="Raleway SemiBold"/>
            </a:endParaRPr>
          </a:p>
        </p:txBody>
      </p:sp>
      <p:pic>
        <p:nvPicPr>
          <p:cNvPr id="109" name="Google Shape;109;p16"/>
          <p:cNvPicPr preferRelativeResize="0"/>
          <p:nvPr/>
        </p:nvPicPr>
        <p:blipFill>
          <a:blip r:embed="rId3">
            <a:alphaModFix/>
          </a:blip>
          <a:stretch>
            <a:fillRect/>
          </a:stretch>
        </p:blipFill>
        <p:spPr>
          <a:xfrm>
            <a:off x="4572000" y="1653501"/>
            <a:ext cx="4126551" cy="27543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a Transistor?</a:t>
            </a:r>
            <a:endParaRPr/>
          </a:p>
        </p:txBody>
      </p:sp>
      <p:sp>
        <p:nvSpPr>
          <p:cNvPr id="115" name="Google Shape;115;p17"/>
          <p:cNvSpPr txBox="1"/>
          <p:nvPr>
            <p:ph idx="1" type="body"/>
          </p:nvPr>
        </p:nvSpPr>
        <p:spPr>
          <a:xfrm>
            <a:off x="4572000" y="1669000"/>
            <a:ext cx="3846000" cy="2327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1600">
                <a:latin typeface="Raleway SemiBold"/>
                <a:ea typeface="Raleway SemiBold"/>
                <a:cs typeface="Raleway SemiBold"/>
                <a:sym typeface="Raleway SemiBold"/>
              </a:rPr>
              <a:t>“A transistor is a semiconductor device used to amplify or switch electrical signals and power. It is one of the basic building blocks of modern electronics. It is composed of semiconductor material, usually with at least three terminals for connection to an electronic circuit.”</a:t>
            </a:r>
            <a:endParaRPr sz="1600">
              <a:latin typeface="Raleway SemiBold"/>
              <a:ea typeface="Raleway SemiBold"/>
              <a:cs typeface="Raleway SemiBold"/>
              <a:sym typeface="Raleway SemiBold"/>
            </a:endParaRPr>
          </a:p>
        </p:txBody>
      </p:sp>
      <p:sp>
        <p:nvSpPr>
          <p:cNvPr id="116" name="Google Shape;116;p17"/>
          <p:cNvSpPr txBox="1"/>
          <p:nvPr>
            <p:ph idx="1" type="body"/>
          </p:nvPr>
        </p:nvSpPr>
        <p:spPr>
          <a:xfrm>
            <a:off x="729450" y="2512750"/>
            <a:ext cx="3255600" cy="64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GB" sz="2500" u="sng">
                <a:latin typeface="Raleway SemiBold"/>
                <a:ea typeface="Raleway SemiBold"/>
                <a:cs typeface="Raleway SemiBold"/>
                <a:sym typeface="Raleway SemiBold"/>
              </a:rPr>
              <a:t>Wikipedia states that:</a:t>
            </a:r>
            <a:endParaRPr sz="2500" u="sng">
              <a:latin typeface="Raleway SemiBold"/>
              <a:ea typeface="Raleway SemiBold"/>
              <a:cs typeface="Raleway SemiBold"/>
              <a:sym typeface="Raleway SemiBold"/>
            </a:endParaRPr>
          </a:p>
        </p:txBody>
      </p:sp>
      <p:sp>
        <p:nvSpPr>
          <p:cNvPr id="117" name="Google Shape;117;p17"/>
          <p:cNvSpPr txBox="1"/>
          <p:nvPr>
            <p:ph idx="1" type="body"/>
          </p:nvPr>
        </p:nvSpPr>
        <p:spPr>
          <a:xfrm>
            <a:off x="4975950" y="4556025"/>
            <a:ext cx="2885700" cy="411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i="1" lang="en-GB" sz="1600">
                <a:latin typeface="Raleway SemiBold"/>
                <a:ea typeface="Raleway SemiBold"/>
                <a:cs typeface="Raleway SemiBold"/>
                <a:sym typeface="Raleway SemiBold"/>
              </a:rPr>
              <a:t>So what does it </a:t>
            </a:r>
            <a:r>
              <a:rPr i="1" lang="en-GB" sz="1600">
                <a:latin typeface="Raleway SemiBold"/>
                <a:ea typeface="Raleway SemiBold"/>
                <a:cs typeface="Raleway SemiBold"/>
                <a:sym typeface="Raleway SemiBold"/>
              </a:rPr>
              <a:t>actually</a:t>
            </a:r>
            <a:r>
              <a:rPr i="1" lang="en-GB" sz="1600">
                <a:latin typeface="Raleway SemiBold"/>
                <a:ea typeface="Raleway SemiBold"/>
                <a:cs typeface="Raleway SemiBold"/>
                <a:sym typeface="Raleway SemiBold"/>
              </a:rPr>
              <a:t> do?</a:t>
            </a:r>
            <a:endParaRPr i="1" sz="1600">
              <a:latin typeface="Raleway SemiBold"/>
              <a:ea typeface="Raleway SemiBold"/>
              <a:cs typeface="Raleway SemiBold"/>
              <a:sym typeface="Raleway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does a Transistor do?</a:t>
            </a:r>
            <a:endParaRPr/>
          </a:p>
        </p:txBody>
      </p:sp>
      <p:sp>
        <p:nvSpPr>
          <p:cNvPr id="123" name="Google Shape;123;p18"/>
          <p:cNvSpPr txBox="1"/>
          <p:nvPr>
            <p:ph idx="1" type="body"/>
          </p:nvPr>
        </p:nvSpPr>
        <p:spPr>
          <a:xfrm>
            <a:off x="825325" y="2082450"/>
            <a:ext cx="4621800" cy="15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Raleway SemiBold"/>
                <a:ea typeface="Raleway SemiBold"/>
                <a:cs typeface="Raleway SemiBold"/>
                <a:sym typeface="Raleway SemiBold"/>
              </a:rPr>
              <a:t>Transistors act with two main functions:</a:t>
            </a:r>
            <a:endParaRPr sz="1700">
              <a:latin typeface="Raleway SemiBold"/>
              <a:ea typeface="Raleway SemiBold"/>
              <a:cs typeface="Raleway SemiBold"/>
              <a:sym typeface="Raleway SemiBold"/>
            </a:endParaRPr>
          </a:p>
          <a:p>
            <a:pPr indent="-336550" lvl="0" marL="457200" rtl="0" algn="l">
              <a:spcBef>
                <a:spcPts val="1200"/>
              </a:spcBef>
              <a:spcAft>
                <a:spcPts val="0"/>
              </a:spcAft>
              <a:buSzPts val="1700"/>
              <a:buFont typeface="Raleway SemiBold"/>
              <a:buChar char="●"/>
            </a:pPr>
            <a:r>
              <a:rPr lang="en-GB" sz="1700">
                <a:latin typeface="Raleway SemiBold"/>
                <a:ea typeface="Raleway SemiBold"/>
                <a:cs typeface="Raleway SemiBold"/>
                <a:sym typeface="Raleway SemiBold"/>
              </a:rPr>
              <a:t>Switch: can turn a current on or off</a:t>
            </a:r>
            <a:endParaRPr sz="1700">
              <a:latin typeface="Raleway SemiBold"/>
              <a:ea typeface="Raleway SemiBold"/>
              <a:cs typeface="Raleway SemiBold"/>
              <a:sym typeface="Raleway SemiBold"/>
            </a:endParaRPr>
          </a:p>
          <a:p>
            <a:pPr indent="-336550" lvl="0" marL="457200" rtl="0" algn="l">
              <a:spcBef>
                <a:spcPts val="0"/>
              </a:spcBef>
              <a:spcAft>
                <a:spcPts val="0"/>
              </a:spcAft>
              <a:buSzPts val="1700"/>
              <a:buFont typeface="Raleway SemiBold"/>
              <a:buChar char="●"/>
            </a:pPr>
            <a:r>
              <a:rPr lang="en-GB" sz="1700">
                <a:latin typeface="Raleway SemiBold"/>
                <a:ea typeface="Raleway SemiBold"/>
                <a:cs typeface="Raleway SemiBold"/>
                <a:sym typeface="Raleway SemiBold"/>
              </a:rPr>
              <a:t>Amplifier: can take a small electrical signal and make it stronger</a:t>
            </a:r>
            <a:endParaRPr sz="1700">
              <a:latin typeface="Raleway SemiBold"/>
              <a:ea typeface="Raleway SemiBold"/>
              <a:cs typeface="Raleway SemiBold"/>
              <a:sym typeface="Raleway SemiBold"/>
            </a:endParaRPr>
          </a:p>
        </p:txBody>
      </p:sp>
      <p:pic>
        <p:nvPicPr>
          <p:cNvPr id="124" name="Google Shape;124;p18"/>
          <p:cNvPicPr preferRelativeResize="0"/>
          <p:nvPr/>
        </p:nvPicPr>
        <p:blipFill>
          <a:blip r:embed="rId3">
            <a:alphaModFix/>
          </a:blip>
          <a:stretch>
            <a:fillRect/>
          </a:stretch>
        </p:blipFill>
        <p:spPr>
          <a:xfrm>
            <a:off x="6080225" y="735525"/>
            <a:ext cx="1853850" cy="1853850"/>
          </a:xfrm>
          <a:prstGeom prst="rect">
            <a:avLst/>
          </a:prstGeom>
          <a:noFill/>
          <a:ln>
            <a:noFill/>
          </a:ln>
        </p:spPr>
      </p:pic>
      <p:pic>
        <p:nvPicPr>
          <p:cNvPr id="125" name="Google Shape;125;p18"/>
          <p:cNvPicPr preferRelativeResize="0"/>
          <p:nvPr/>
        </p:nvPicPr>
        <p:blipFill>
          <a:blip r:embed="rId4">
            <a:alphaModFix/>
          </a:blip>
          <a:stretch>
            <a:fillRect/>
          </a:stretch>
        </p:blipFill>
        <p:spPr>
          <a:xfrm>
            <a:off x="6168288" y="3056800"/>
            <a:ext cx="1677734" cy="1853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Transistor Pins</a:t>
            </a:r>
            <a:endParaRPr/>
          </a:p>
        </p:txBody>
      </p:sp>
      <p:pic>
        <p:nvPicPr>
          <p:cNvPr id="131" name="Google Shape;131;p19"/>
          <p:cNvPicPr preferRelativeResize="0"/>
          <p:nvPr/>
        </p:nvPicPr>
        <p:blipFill>
          <a:blip r:embed="rId3">
            <a:alphaModFix/>
          </a:blip>
          <a:stretch>
            <a:fillRect/>
          </a:stretch>
        </p:blipFill>
        <p:spPr>
          <a:xfrm>
            <a:off x="1922475" y="1853850"/>
            <a:ext cx="5299039" cy="2984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Transistor Pins</a:t>
            </a:r>
            <a:endParaRPr/>
          </a:p>
        </p:txBody>
      </p:sp>
      <p:pic>
        <p:nvPicPr>
          <p:cNvPr id="137" name="Google Shape;137;p20"/>
          <p:cNvPicPr preferRelativeResize="0"/>
          <p:nvPr/>
        </p:nvPicPr>
        <p:blipFill>
          <a:blip r:embed="rId3">
            <a:alphaModFix/>
          </a:blip>
          <a:stretch>
            <a:fillRect/>
          </a:stretch>
        </p:blipFill>
        <p:spPr>
          <a:xfrm>
            <a:off x="668675" y="1932850"/>
            <a:ext cx="3741726" cy="2252445"/>
          </a:xfrm>
          <a:prstGeom prst="rect">
            <a:avLst/>
          </a:prstGeom>
          <a:noFill/>
          <a:ln>
            <a:noFill/>
          </a:ln>
        </p:spPr>
      </p:pic>
      <p:pic>
        <p:nvPicPr>
          <p:cNvPr id="138" name="Google Shape;138;p20"/>
          <p:cNvPicPr preferRelativeResize="0"/>
          <p:nvPr/>
        </p:nvPicPr>
        <p:blipFill>
          <a:blip r:embed="rId4">
            <a:alphaModFix/>
          </a:blip>
          <a:stretch>
            <a:fillRect/>
          </a:stretch>
        </p:blipFill>
        <p:spPr>
          <a:xfrm>
            <a:off x="4773725" y="1566650"/>
            <a:ext cx="3740414"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Transistor Pins</a:t>
            </a:r>
            <a:endParaRPr/>
          </a:p>
        </p:txBody>
      </p:sp>
      <p:pic>
        <p:nvPicPr>
          <p:cNvPr id="144" name="Google Shape;144;p21"/>
          <p:cNvPicPr preferRelativeResize="0"/>
          <p:nvPr/>
        </p:nvPicPr>
        <p:blipFill>
          <a:blip r:embed="rId3">
            <a:alphaModFix/>
          </a:blip>
          <a:stretch>
            <a:fillRect/>
          </a:stretch>
        </p:blipFill>
        <p:spPr>
          <a:xfrm>
            <a:off x="2335163" y="1853850"/>
            <a:ext cx="4477275"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Reminder…</a:t>
            </a:r>
            <a:endParaRPr/>
          </a:p>
        </p:txBody>
      </p:sp>
      <p:pic>
        <p:nvPicPr>
          <p:cNvPr id="150" name="Google Shape;150;p22"/>
          <p:cNvPicPr preferRelativeResize="0"/>
          <p:nvPr/>
        </p:nvPicPr>
        <p:blipFill>
          <a:blip r:embed="rId3">
            <a:alphaModFix/>
          </a:blip>
          <a:stretch>
            <a:fillRect/>
          </a:stretch>
        </p:blipFill>
        <p:spPr>
          <a:xfrm>
            <a:off x="1803575" y="1853850"/>
            <a:ext cx="5536833" cy="2984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Using Transistors</a:t>
            </a:r>
            <a:endParaRPr/>
          </a:p>
        </p:txBody>
      </p:sp>
      <p:pic>
        <p:nvPicPr>
          <p:cNvPr id="156" name="Google Shape;156;p23"/>
          <p:cNvPicPr preferRelativeResize="0"/>
          <p:nvPr/>
        </p:nvPicPr>
        <p:blipFill>
          <a:blip r:embed="rId3">
            <a:alphaModFix/>
          </a:blip>
          <a:stretch>
            <a:fillRect/>
          </a:stretch>
        </p:blipFill>
        <p:spPr>
          <a:xfrm>
            <a:off x="5401100" y="1697175"/>
            <a:ext cx="3742907" cy="2984850"/>
          </a:xfrm>
          <a:prstGeom prst="rect">
            <a:avLst/>
          </a:prstGeom>
          <a:noFill/>
          <a:ln>
            <a:noFill/>
          </a:ln>
        </p:spPr>
      </p:pic>
      <p:pic>
        <p:nvPicPr>
          <p:cNvPr id="157" name="Google Shape;157;p23"/>
          <p:cNvPicPr preferRelativeResize="0"/>
          <p:nvPr/>
        </p:nvPicPr>
        <p:blipFill>
          <a:blip r:embed="rId4">
            <a:alphaModFix/>
          </a:blip>
          <a:stretch>
            <a:fillRect/>
          </a:stretch>
        </p:blipFill>
        <p:spPr>
          <a:xfrm>
            <a:off x="729457" y="1961925"/>
            <a:ext cx="4366843" cy="245535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4"/>
          <p:cNvPicPr preferRelativeResize="0"/>
          <p:nvPr/>
        </p:nvPicPr>
        <p:blipFill>
          <a:blip r:embed="rId3">
            <a:alphaModFix/>
          </a:blip>
          <a:stretch>
            <a:fillRect/>
          </a:stretch>
        </p:blipFill>
        <p:spPr>
          <a:xfrm>
            <a:off x="780750" y="678325"/>
            <a:ext cx="7582502" cy="42634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5"/>
          <p:cNvPicPr preferRelativeResize="0"/>
          <p:nvPr/>
        </p:nvPicPr>
        <p:blipFill rotWithShape="1">
          <a:blip r:embed="rId3">
            <a:alphaModFix/>
          </a:blip>
          <a:srcRect b="0" l="0" r="19949" t="0"/>
          <a:stretch/>
        </p:blipFill>
        <p:spPr>
          <a:xfrm>
            <a:off x="2611837" y="631025"/>
            <a:ext cx="4529925" cy="45124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Using Transistors – With Code</a:t>
            </a:r>
            <a:endParaRPr/>
          </a:p>
        </p:txBody>
      </p:sp>
      <p:pic>
        <p:nvPicPr>
          <p:cNvPr id="173" name="Google Shape;173;p26"/>
          <p:cNvPicPr preferRelativeResize="0"/>
          <p:nvPr/>
        </p:nvPicPr>
        <p:blipFill>
          <a:blip r:embed="rId3">
            <a:alphaModFix/>
          </a:blip>
          <a:stretch>
            <a:fillRect/>
          </a:stretch>
        </p:blipFill>
        <p:spPr>
          <a:xfrm>
            <a:off x="596350" y="1853850"/>
            <a:ext cx="3975654" cy="2984850"/>
          </a:xfrm>
          <a:prstGeom prst="rect">
            <a:avLst/>
          </a:prstGeom>
          <a:noFill/>
          <a:ln>
            <a:noFill/>
          </a:ln>
        </p:spPr>
      </p:pic>
      <p:pic>
        <p:nvPicPr>
          <p:cNvPr id="174" name="Google Shape;174;p26"/>
          <p:cNvPicPr preferRelativeResize="0"/>
          <p:nvPr/>
        </p:nvPicPr>
        <p:blipFill>
          <a:blip r:embed="rId4">
            <a:alphaModFix/>
          </a:blip>
          <a:stretch>
            <a:fillRect/>
          </a:stretch>
        </p:blipFill>
        <p:spPr>
          <a:xfrm>
            <a:off x="4650629" y="1927900"/>
            <a:ext cx="3271166" cy="29848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