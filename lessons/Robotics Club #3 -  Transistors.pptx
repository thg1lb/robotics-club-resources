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Raleway SemiBold"/>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22" Type="http://schemas.openxmlformats.org/officeDocument/2006/relationships/font" Target="fonts/RalewaySemiBold-bold.fntdata"/><Relationship Id="rId21" Type="http://schemas.openxmlformats.org/officeDocument/2006/relationships/font" Target="fonts/RalewaySemiBold-regular.fntdata"/><Relationship Id="rId24" Type="http://schemas.openxmlformats.org/officeDocument/2006/relationships/font" Target="fonts/RalewaySemiBold-boldItalic.fntdata"/><Relationship Id="rId23" Type="http://schemas.openxmlformats.org/officeDocument/2006/relationships/font" Target="fonts/Raleway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regular.fntdata"/><Relationship Id="rId16" Type="http://schemas.openxmlformats.org/officeDocument/2006/relationships/slide" Target="slides/slide11.xml"/><Relationship Id="rId19" Type="http://schemas.openxmlformats.org/officeDocument/2006/relationships/font" Target="fonts/Raleway-italic.fntdata"/><Relationship Id="rId18" Type="http://schemas.openxmlformats.org/officeDocument/2006/relationships/font" Target="fonts/Ralew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Transistor#:~:text=A%20transistor%20is%20a%20semiconductor,connection%20to%20an%20electronic%20circuit"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rojecthub.arduino.cc/SBR/switching-using-transistor-18cb61"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253d41bcc0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253d41bcc0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2"/>
              </a:rPr>
              <a:t>https://en.wikipedia.org/wiki/Transistor#:~:text=A%20transistor%20is%20a%20semiconductor,connection%20to%20an%20electronic%20circuit.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253d41bcc0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253d41bcc0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253d41bcc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253d41bcc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53d41bcc0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253d41bcc0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53d41bcc0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253d41bcc0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56738df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256738df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53d41bcc0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253d41bcc0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253d41bcc0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253d41bcc0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53d41bcc0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53d41bcc0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53d41bcc0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253d41bcc0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2"/>
              </a:rPr>
              <a:t>https://projecthub.arduino.cc/SBR/switching-using-transistor-18cb61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273225"/>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Transistors</a:t>
            </a:r>
            <a:endParaRPr/>
          </a:p>
        </p:txBody>
      </p:sp>
      <p:pic>
        <p:nvPicPr>
          <p:cNvPr id="87" name="Google Shape;87;p13"/>
          <p:cNvPicPr preferRelativeResize="0"/>
          <p:nvPr/>
        </p:nvPicPr>
        <p:blipFill>
          <a:blip r:embed="rId3">
            <a:alphaModFix/>
          </a:blip>
          <a:stretch>
            <a:fillRect/>
          </a:stretch>
        </p:blipFill>
        <p:spPr>
          <a:xfrm>
            <a:off x="2688725" y="2583375"/>
            <a:ext cx="3766550" cy="2255600"/>
          </a:xfrm>
          <a:prstGeom prst="rect">
            <a:avLst/>
          </a:prstGeom>
          <a:noFill/>
          <a:ln>
            <a:noFill/>
          </a:ln>
        </p:spPr>
      </p:pic>
      <p:sp>
        <p:nvSpPr>
          <p:cNvPr id="88" name="Google Shape;88;p13"/>
          <p:cNvSpPr txBox="1"/>
          <p:nvPr>
            <p:ph type="ctrTitle"/>
          </p:nvPr>
        </p:nvSpPr>
        <p:spPr>
          <a:xfrm>
            <a:off x="805650" y="1899450"/>
            <a:ext cx="4813800" cy="51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10"/>
              <a:t>and other announcements</a:t>
            </a:r>
            <a:endParaRPr sz="181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a Transistor?</a:t>
            </a:r>
            <a:endParaRPr/>
          </a:p>
        </p:txBody>
      </p:sp>
      <p:sp>
        <p:nvSpPr>
          <p:cNvPr id="94" name="Google Shape;94;p14"/>
          <p:cNvSpPr txBox="1"/>
          <p:nvPr>
            <p:ph idx="1" type="body"/>
          </p:nvPr>
        </p:nvSpPr>
        <p:spPr>
          <a:xfrm>
            <a:off x="4572000" y="1669000"/>
            <a:ext cx="3846000" cy="2327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1600">
                <a:latin typeface="Raleway SemiBold"/>
                <a:ea typeface="Raleway SemiBold"/>
                <a:cs typeface="Raleway SemiBold"/>
                <a:sym typeface="Raleway SemiBold"/>
              </a:rPr>
              <a:t>“A transistor is a semiconductor device used to amplify or switch electrical signals and power. It is one of the basic building blocks of modern electronics. It is composed of semiconductor material, usually with at least three terminals for connection to an electronic circuit.”</a:t>
            </a:r>
            <a:endParaRPr sz="1600">
              <a:latin typeface="Raleway SemiBold"/>
              <a:ea typeface="Raleway SemiBold"/>
              <a:cs typeface="Raleway SemiBold"/>
              <a:sym typeface="Raleway SemiBold"/>
            </a:endParaRPr>
          </a:p>
        </p:txBody>
      </p:sp>
      <p:sp>
        <p:nvSpPr>
          <p:cNvPr id="95" name="Google Shape;95;p14"/>
          <p:cNvSpPr txBox="1"/>
          <p:nvPr>
            <p:ph idx="1" type="body"/>
          </p:nvPr>
        </p:nvSpPr>
        <p:spPr>
          <a:xfrm>
            <a:off x="729450" y="2512750"/>
            <a:ext cx="3255600" cy="640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GB" sz="2500" u="sng">
                <a:latin typeface="Raleway SemiBold"/>
                <a:ea typeface="Raleway SemiBold"/>
                <a:cs typeface="Raleway SemiBold"/>
                <a:sym typeface="Raleway SemiBold"/>
              </a:rPr>
              <a:t>Wikipedia states that:</a:t>
            </a:r>
            <a:endParaRPr sz="2500" u="sng">
              <a:latin typeface="Raleway SemiBold"/>
              <a:ea typeface="Raleway SemiBold"/>
              <a:cs typeface="Raleway SemiBold"/>
              <a:sym typeface="Raleway SemiBold"/>
            </a:endParaRPr>
          </a:p>
        </p:txBody>
      </p:sp>
      <p:sp>
        <p:nvSpPr>
          <p:cNvPr id="96" name="Google Shape;96;p14"/>
          <p:cNvSpPr txBox="1"/>
          <p:nvPr>
            <p:ph idx="1" type="body"/>
          </p:nvPr>
        </p:nvSpPr>
        <p:spPr>
          <a:xfrm>
            <a:off x="4975950" y="4556025"/>
            <a:ext cx="2885700" cy="411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i="1" lang="en-GB" sz="1600">
                <a:latin typeface="Raleway SemiBold"/>
                <a:ea typeface="Raleway SemiBold"/>
                <a:cs typeface="Raleway SemiBold"/>
                <a:sym typeface="Raleway SemiBold"/>
              </a:rPr>
              <a:t>So what does it </a:t>
            </a:r>
            <a:r>
              <a:rPr i="1" lang="en-GB" sz="1600">
                <a:latin typeface="Raleway SemiBold"/>
                <a:ea typeface="Raleway SemiBold"/>
                <a:cs typeface="Raleway SemiBold"/>
                <a:sym typeface="Raleway SemiBold"/>
              </a:rPr>
              <a:t>actually</a:t>
            </a:r>
            <a:r>
              <a:rPr i="1" lang="en-GB" sz="1600">
                <a:latin typeface="Raleway SemiBold"/>
                <a:ea typeface="Raleway SemiBold"/>
                <a:cs typeface="Raleway SemiBold"/>
                <a:sym typeface="Raleway SemiBold"/>
              </a:rPr>
              <a:t> do?</a:t>
            </a:r>
            <a:endParaRPr i="1" sz="1600">
              <a:latin typeface="Raleway SemiBold"/>
              <a:ea typeface="Raleway SemiBold"/>
              <a:cs typeface="Raleway SemiBold"/>
              <a:sym typeface="Raleway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does a Transistor do?</a:t>
            </a:r>
            <a:endParaRPr/>
          </a:p>
        </p:txBody>
      </p:sp>
      <p:sp>
        <p:nvSpPr>
          <p:cNvPr id="102" name="Google Shape;102;p15"/>
          <p:cNvSpPr txBox="1"/>
          <p:nvPr>
            <p:ph idx="1" type="body"/>
          </p:nvPr>
        </p:nvSpPr>
        <p:spPr>
          <a:xfrm>
            <a:off x="825325" y="2082450"/>
            <a:ext cx="4621800" cy="154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700">
                <a:latin typeface="Raleway SemiBold"/>
                <a:ea typeface="Raleway SemiBold"/>
                <a:cs typeface="Raleway SemiBold"/>
                <a:sym typeface="Raleway SemiBold"/>
              </a:rPr>
              <a:t>Transistors act with two main functions:</a:t>
            </a:r>
            <a:endParaRPr sz="1700">
              <a:latin typeface="Raleway SemiBold"/>
              <a:ea typeface="Raleway SemiBold"/>
              <a:cs typeface="Raleway SemiBold"/>
              <a:sym typeface="Raleway SemiBold"/>
            </a:endParaRPr>
          </a:p>
          <a:p>
            <a:pPr indent="-336550" lvl="0" marL="457200" rtl="0" algn="l">
              <a:spcBef>
                <a:spcPts val="1200"/>
              </a:spcBef>
              <a:spcAft>
                <a:spcPts val="0"/>
              </a:spcAft>
              <a:buSzPts val="1700"/>
              <a:buFont typeface="Raleway SemiBold"/>
              <a:buChar char="●"/>
            </a:pPr>
            <a:r>
              <a:rPr lang="en-GB" sz="1700">
                <a:latin typeface="Raleway SemiBold"/>
                <a:ea typeface="Raleway SemiBold"/>
                <a:cs typeface="Raleway SemiBold"/>
                <a:sym typeface="Raleway SemiBold"/>
              </a:rPr>
              <a:t>Switch: can turn a current on or off</a:t>
            </a:r>
            <a:endParaRPr sz="1700">
              <a:latin typeface="Raleway SemiBold"/>
              <a:ea typeface="Raleway SemiBold"/>
              <a:cs typeface="Raleway SemiBold"/>
              <a:sym typeface="Raleway SemiBold"/>
            </a:endParaRPr>
          </a:p>
          <a:p>
            <a:pPr indent="-336550" lvl="0" marL="457200" rtl="0" algn="l">
              <a:spcBef>
                <a:spcPts val="0"/>
              </a:spcBef>
              <a:spcAft>
                <a:spcPts val="0"/>
              </a:spcAft>
              <a:buSzPts val="1700"/>
              <a:buFont typeface="Raleway SemiBold"/>
              <a:buChar char="●"/>
            </a:pPr>
            <a:r>
              <a:rPr lang="en-GB" sz="1700">
                <a:latin typeface="Raleway SemiBold"/>
                <a:ea typeface="Raleway SemiBold"/>
                <a:cs typeface="Raleway SemiBold"/>
                <a:sym typeface="Raleway SemiBold"/>
              </a:rPr>
              <a:t>Amplifier: can take a small electrical signal and make it stronger</a:t>
            </a:r>
            <a:endParaRPr sz="1700">
              <a:latin typeface="Raleway SemiBold"/>
              <a:ea typeface="Raleway SemiBold"/>
              <a:cs typeface="Raleway SemiBold"/>
              <a:sym typeface="Raleway SemiBold"/>
            </a:endParaRPr>
          </a:p>
        </p:txBody>
      </p:sp>
      <p:pic>
        <p:nvPicPr>
          <p:cNvPr id="103" name="Google Shape;103;p15"/>
          <p:cNvPicPr preferRelativeResize="0"/>
          <p:nvPr/>
        </p:nvPicPr>
        <p:blipFill>
          <a:blip r:embed="rId3">
            <a:alphaModFix/>
          </a:blip>
          <a:stretch>
            <a:fillRect/>
          </a:stretch>
        </p:blipFill>
        <p:spPr>
          <a:xfrm>
            <a:off x="6080225" y="735525"/>
            <a:ext cx="1853850" cy="1853850"/>
          </a:xfrm>
          <a:prstGeom prst="rect">
            <a:avLst/>
          </a:prstGeom>
          <a:noFill/>
          <a:ln>
            <a:noFill/>
          </a:ln>
        </p:spPr>
      </p:pic>
      <p:pic>
        <p:nvPicPr>
          <p:cNvPr id="104" name="Google Shape;104;p15"/>
          <p:cNvPicPr preferRelativeResize="0"/>
          <p:nvPr/>
        </p:nvPicPr>
        <p:blipFill>
          <a:blip r:embed="rId4">
            <a:alphaModFix/>
          </a:blip>
          <a:stretch>
            <a:fillRect/>
          </a:stretch>
        </p:blipFill>
        <p:spPr>
          <a:xfrm>
            <a:off x="6168288" y="3056800"/>
            <a:ext cx="1677734" cy="1853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Transistor Pins</a:t>
            </a:r>
            <a:endParaRPr/>
          </a:p>
        </p:txBody>
      </p:sp>
      <p:pic>
        <p:nvPicPr>
          <p:cNvPr id="110" name="Google Shape;110;p16"/>
          <p:cNvPicPr preferRelativeResize="0"/>
          <p:nvPr/>
        </p:nvPicPr>
        <p:blipFill>
          <a:blip r:embed="rId3">
            <a:alphaModFix/>
          </a:blip>
          <a:stretch>
            <a:fillRect/>
          </a:stretch>
        </p:blipFill>
        <p:spPr>
          <a:xfrm>
            <a:off x="1922475" y="1853850"/>
            <a:ext cx="5299039" cy="29848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Transistor Pins</a:t>
            </a:r>
            <a:endParaRPr/>
          </a:p>
        </p:txBody>
      </p:sp>
      <p:pic>
        <p:nvPicPr>
          <p:cNvPr id="116" name="Google Shape;116;p17"/>
          <p:cNvPicPr preferRelativeResize="0"/>
          <p:nvPr/>
        </p:nvPicPr>
        <p:blipFill>
          <a:blip r:embed="rId3">
            <a:alphaModFix/>
          </a:blip>
          <a:stretch>
            <a:fillRect/>
          </a:stretch>
        </p:blipFill>
        <p:spPr>
          <a:xfrm>
            <a:off x="668675" y="1932850"/>
            <a:ext cx="3741726" cy="2252445"/>
          </a:xfrm>
          <a:prstGeom prst="rect">
            <a:avLst/>
          </a:prstGeom>
          <a:noFill/>
          <a:ln>
            <a:noFill/>
          </a:ln>
        </p:spPr>
      </p:pic>
      <p:pic>
        <p:nvPicPr>
          <p:cNvPr id="117" name="Google Shape;117;p17"/>
          <p:cNvPicPr preferRelativeResize="0"/>
          <p:nvPr/>
        </p:nvPicPr>
        <p:blipFill>
          <a:blip r:embed="rId4">
            <a:alphaModFix/>
          </a:blip>
          <a:stretch>
            <a:fillRect/>
          </a:stretch>
        </p:blipFill>
        <p:spPr>
          <a:xfrm>
            <a:off x="4773725" y="1566650"/>
            <a:ext cx="3740414" cy="2984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Transistor Pins</a:t>
            </a:r>
            <a:endParaRPr/>
          </a:p>
        </p:txBody>
      </p:sp>
      <p:pic>
        <p:nvPicPr>
          <p:cNvPr id="123" name="Google Shape;123;p18"/>
          <p:cNvPicPr preferRelativeResize="0"/>
          <p:nvPr/>
        </p:nvPicPr>
        <p:blipFill>
          <a:blip r:embed="rId3">
            <a:alphaModFix/>
          </a:blip>
          <a:stretch>
            <a:fillRect/>
          </a:stretch>
        </p:blipFill>
        <p:spPr>
          <a:xfrm>
            <a:off x="2335163" y="1853850"/>
            <a:ext cx="4477275" cy="2984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Reminder…</a:t>
            </a:r>
            <a:endParaRPr/>
          </a:p>
        </p:txBody>
      </p:sp>
      <p:pic>
        <p:nvPicPr>
          <p:cNvPr id="129" name="Google Shape;129;p19"/>
          <p:cNvPicPr preferRelativeResize="0"/>
          <p:nvPr/>
        </p:nvPicPr>
        <p:blipFill>
          <a:blip r:embed="rId3">
            <a:alphaModFix/>
          </a:blip>
          <a:stretch>
            <a:fillRect/>
          </a:stretch>
        </p:blipFill>
        <p:spPr>
          <a:xfrm>
            <a:off x="1803575" y="1853850"/>
            <a:ext cx="5536833" cy="2984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Using Transistors</a:t>
            </a:r>
            <a:endParaRPr/>
          </a:p>
        </p:txBody>
      </p:sp>
      <p:pic>
        <p:nvPicPr>
          <p:cNvPr id="135" name="Google Shape;135;p20"/>
          <p:cNvPicPr preferRelativeResize="0"/>
          <p:nvPr/>
        </p:nvPicPr>
        <p:blipFill>
          <a:blip r:embed="rId3">
            <a:alphaModFix/>
          </a:blip>
          <a:stretch>
            <a:fillRect/>
          </a:stretch>
        </p:blipFill>
        <p:spPr>
          <a:xfrm>
            <a:off x="5401100" y="1697175"/>
            <a:ext cx="3742907" cy="2984850"/>
          </a:xfrm>
          <a:prstGeom prst="rect">
            <a:avLst/>
          </a:prstGeom>
          <a:noFill/>
          <a:ln>
            <a:noFill/>
          </a:ln>
        </p:spPr>
      </p:pic>
      <p:pic>
        <p:nvPicPr>
          <p:cNvPr id="136" name="Google Shape;136;p20"/>
          <p:cNvPicPr preferRelativeResize="0"/>
          <p:nvPr/>
        </p:nvPicPr>
        <p:blipFill>
          <a:blip r:embed="rId4">
            <a:alphaModFix/>
          </a:blip>
          <a:stretch>
            <a:fillRect/>
          </a:stretch>
        </p:blipFill>
        <p:spPr>
          <a:xfrm>
            <a:off x="729457" y="1961925"/>
            <a:ext cx="4366843" cy="245535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1"/>
          <p:cNvPicPr preferRelativeResize="0"/>
          <p:nvPr/>
        </p:nvPicPr>
        <p:blipFill>
          <a:blip r:embed="rId3">
            <a:alphaModFix/>
          </a:blip>
          <a:stretch>
            <a:fillRect/>
          </a:stretch>
        </p:blipFill>
        <p:spPr>
          <a:xfrm>
            <a:off x="780750" y="678325"/>
            <a:ext cx="7582502" cy="42634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2"/>
          <p:cNvPicPr preferRelativeResize="0"/>
          <p:nvPr/>
        </p:nvPicPr>
        <p:blipFill rotWithShape="1">
          <a:blip r:embed="rId3">
            <a:alphaModFix/>
          </a:blip>
          <a:srcRect b="0" l="0" r="19949" t="0"/>
          <a:stretch/>
        </p:blipFill>
        <p:spPr>
          <a:xfrm>
            <a:off x="2611837" y="631025"/>
            <a:ext cx="4529925" cy="45124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Using Transistors – With Code</a:t>
            </a:r>
            <a:endParaRPr/>
          </a:p>
        </p:txBody>
      </p:sp>
      <p:pic>
        <p:nvPicPr>
          <p:cNvPr id="152" name="Google Shape;152;p23"/>
          <p:cNvPicPr preferRelativeResize="0"/>
          <p:nvPr/>
        </p:nvPicPr>
        <p:blipFill>
          <a:blip r:embed="rId3">
            <a:alphaModFix/>
          </a:blip>
          <a:stretch>
            <a:fillRect/>
          </a:stretch>
        </p:blipFill>
        <p:spPr>
          <a:xfrm>
            <a:off x="596350" y="1853850"/>
            <a:ext cx="3975654" cy="2984850"/>
          </a:xfrm>
          <a:prstGeom prst="rect">
            <a:avLst/>
          </a:prstGeom>
          <a:noFill/>
          <a:ln>
            <a:noFill/>
          </a:ln>
        </p:spPr>
      </p:pic>
      <p:pic>
        <p:nvPicPr>
          <p:cNvPr id="153" name="Google Shape;153;p23"/>
          <p:cNvPicPr preferRelativeResize="0"/>
          <p:nvPr/>
        </p:nvPicPr>
        <p:blipFill>
          <a:blip r:embed="rId4">
            <a:alphaModFix/>
          </a:blip>
          <a:stretch>
            <a:fillRect/>
          </a:stretch>
        </p:blipFill>
        <p:spPr>
          <a:xfrm>
            <a:off x="4650629" y="1927900"/>
            <a:ext cx="3271166" cy="29848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